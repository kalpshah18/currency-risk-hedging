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18288000" cy="10287000"/>
  <p:notesSz cx="6858000" cy="9144000"/>
  <p:embeddedFontLst>
    <p:embeddedFont>
      <p:font typeface="Cambria Bold" charset="1" panose="02040803050406030204"/>
      <p:regular r:id="rId10"/>
    </p:embeddedFont>
    <p:embeddedFont>
      <p:font typeface="Calibri (MS) Italics" charset="1" panose="020F05020202040A0204"/>
      <p:regular r:id="rId11"/>
    </p:embeddedFont>
    <p:embeddedFont>
      <p:font typeface="Calibri (MS) Bold" charset="1" panose="020F0702030404030204"/>
      <p:regular r:id="rId12"/>
    </p:embeddedFont>
    <p:embeddedFont>
      <p:font typeface="Calibri (MS)" charset="1" panose="020F0502020204030204"/>
      <p:regular r:id="rId13"/>
    </p:embeddedFont>
    <p:embeddedFont>
      <p:font typeface="Calibri (MS) Bold Italics" charset="1" panose="020F07020304040A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38912"/>
            <a:ext cx="11795760" cy="822960"/>
            <a:chOff x="0" y="0"/>
            <a:chExt cx="15727680" cy="1097280"/>
          </a:xfrm>
        </p:grpSpPr>
        <p:sp>
          <p:nvSpPr>
            <p:cNvPr name="Freeform 3" id="3"/>
            <p:cNvSpPr/>
            <p:nvPr/>
          </p:nvSpPr>
          <p:spPr>
            <a:xfrm flipH="false" flipV="false" rot="0">
              <a:off x="0" y="0"/>
              <a:ext cx="15727680" cy="1097280"/>
            </a:xfrm>
            <a:custGeom>
              <a:avLst/>
              <a:gdLst/>
              <a:ahLst/>
              <a:cxnLst/>
              <a:rect r="r" b="b" t="t" l="l"/>
              <a:pathLst>
                <a:path h="1097280" w="15727680">
                  <a:moveTo>
                    <a:pt x="0" y="0"/>
                  </a:moveTo>
                  <a:lnTo>
                    <a:pt x="15727680" y="0"/>
                  </a:lnTo>
                  <a:lnTo>
                    <a:pt x="15727680" y="1097280"/>
                  </a:lnTo>
                  <a:lnTo>
                    <a:pt x="0" y="1097280"/>
                  </a:lnTo>
                  <a:close/>
                </a:path>
              </a:pathLst>
            </a:custGeom>
            <a:blipFill>
              <a:blip r:embed="rId3">
                <a:alphaModFix amt="0"/>
              </a:blip>
              <a:stretch>
                <a:fillRect l="0" t="-229285" r="0" b="-229285"/>
              </a:stretch>
            </a:blipFill>
          </p:spPr>
        </p:sp>
        <p:sp>
          <p:nvSpPr>
            <p:cNvPr name="TextBox 4" id="4"/>
            <p:cNvSpPr txBox="true"/>
            <p:nvPr/>
          </p:nvSpPr>
          <p:spPr>
            <a:xfrm>
              <a:off x="0" y="-9525"/>
              <a:ext cx="15727680" cy="1106805"/>
            </a:xfrm>
            <a:prstGeom prst="rect">
              <a:avLst/>
            </a:prstGeom>
          </p:spPr>
          <p:txBody>
            <a:bodyPr anchor="ctr" rtlCol="false" tIns="0" lIns="0" bIns="0" rIns="0"/>
            <a:lstStyle/>
            <a:p>
              <a:pPr algn="l">
                <a:lnSpc>
                  <a:spcPts val="5040"/>
                </a:lnSpc>
              </a:pPr>
              <a:r>
                <a:rPr lang="en-US" sz="4200" b="true">
                  <a:solidFill>
                    <a:srgbClr val="21295C"/>
                  </a:solidFill>
                  <a:latin typeface="Cambria Bold"/>
                  <a:ea typeface="Cambria Bold"/>
                  <a:cs typeface="Cambria Bold"/>
                  <a:sym typeface="Cambria Bold"/>
                </a:rPr>
                <a:t>Multi-Currency FX Risk Management</a:t>
              </a:r>
            </a:p>
          </p:txBody>
        </p:sp>
      </p:grpSp>
      <p:grpSp>
        <p:nvGrpSpPr>
          <p:cNvPr name="Group 5" id="5"/>
          <p:cNvGrpSpPr/>
          <p:nvPr/>
        </p:nvGrpSpPr>
        <p:grpSpPr>
          <a:xfrm rot="0">
            <a:off x="685800" y="1179576"/>
            <a:ext cx="11795760" cy="480060"/>
            <a:chOff x="0" y="0"/>
            <a:chExt cx="15727680" cy="640080"/>
          </a:xfrm>
        </p:grpSpPr>
        <p:sp>
          <p:nvSpPr>
            <p:cNvPr name="Freeform 6" id="6"/>
            <p:cNvSpPr/>
            <p:nvPr/>
          </p:nvSpPr>
          <p:spPr>
            <a:xfrm flipH="false" flipV="false" rot="0">
              <a:off x="0" y="0"/>
              <a:ext cx="15727680" cy="640080"/>
            </a:xfrm>
            <a:custGeom>
              <a:avLst/>
              <a:gdLst/>
              <a:ahLst/>
              <a:cxnLst/>
              <a:rect r="r" b="b" t="t" l="l"/>
              <a:pathLst>
                <a:path h="640080" w="15727680">
                  <a:moveTo>
                    <a:pt x="0" y="0"/>
                  </a:moveTo>
                  <a:lnTo>
                    <a:pt x="15727680" y="0"/>
                  </a:lnTo>
                  <a:lnTo>
                    <a:pt x="15727680" y="640080"/>
                  </a:lnTo>
                  <a:lnTo>
                    <a:pt x="0" y="640080"/>
                  </a:lnTo>
                  <a:close/>
                </a:path>
              </a:pathLst>
            </a:custGeom>
            <a:blipFill>
              <a:blip r:embed="rId3">
                <a:alphaModFix amt="0"/>
              </a:blip>
              <a:stretch>
                <a:fillRect l="0" t="-428775" r="0" b="-428775"/>
              </a:stretch>
            </a:blipFill>
          </p:spPr>
        </p:sp>
        <p:sp>
          <p:nvSpPr>
            <p:cNvPr name="TextBox 7" id="7"/>
            <p:cNvSpPr txBox="true"/>
            <p:nvPr/>
          </p:nvSpPr>
          <p:spPr>
            <a:xfrm>
              <a:off x="0" y="-38100"/>
              <a:ext cx="15727680" cy="678180"/>
            </a:xfrm>
            <a:prstGeom prst="rect">
              <a:avLst/>
            </a:prstGeom>
          </p:spPr>
          <p:txBody>
            <a:bodyPr anchor="ctr" rtlCol="false" tIns="0" lIns="0" bIns="0" rIns="0"/>
            <a:lstStyle/>
            <a:p>
              <a:pPr algn="l">
                <a:lnSpc>
                  <a:spcPts val="2430"/>
                </a:lnSpc>
              </a:pPr>
              <a:r>
                <a:rPr lang="en-US" sz="2025" i="true">
                  <a:solidFill>
                    <a:srgbClr val="1C7293"/>
                  </a:solidFill>
                  <a:latin typeface="Calibri (MS) Italics"/>
                  <a:ea typeface="Calibri (MS) Italics"/>
                  <a:cs typeface="Calibri (MS) Italics"/>
                  <a:sym typeface="Calibri (MS) Italics"/>
                </a:rPr>
                <a:t>Currency Risk </a:t>
              </a:r>
              <a:r>
                <a:rPr lang="en-US" sz="2025" i="true">
                  <a:solidFill>
                    <a:srgbClr val="1C7293"/>
                  </a:solidFill>
                  <a:latin typeface="Calibri (MS) Italics"/>
                  <a:ea typeface="Calibri (MS) Italics"/>
                  <a:cs typeface="Calibri (MS) Italics"/>
                  <a:sym typeface="Calibri (MS) Italics"/>
                </a:rPr>
                <a:t>Hedging Strategy Analysis | Investment in India(INR), China(CNH), Japan(JPY) &amp; South Korea(KRW)</a:t>
              </a:r>
            </a:p>
          </p:txBody>
        </p:sp>
      </p:grpSp>
      <p:grpSp>
        <p:nvGrpSpPr>
          <p:cNvPr name="Group 8" id="8"/>
          <p:cNvGrpSpPr/>
          <p:nvPr/>
        </p:nvGrpSpPr>
        <p:grpSpPr>
          <a:xfrm rot="0">
            <a:off x="13407390" y="277994"/>
            <a:ext cx="4217670" cy="1554997"/>
            <a:chOff x="0" y="0"/>
            <a:chExt cx="6400800" cy="2359887"/>
          </a:xfrm>
        </p:grpSpPr>
        <p:sp>
          <p:nvSpPr>
            <p:cNvPr name="Freeform 9" id="9"/>
            <p:cNvSpPr/>
            <p:nvPr/>
          </p:nvSpPr>
          <p:spPr>
            <a:xfrm flipH="false" flipV="false" rot="0">
              <a:off x="0" y="0"/>
              <a:ext cx="6400800" cy="2359887"/>
            </a:xfrm>
            <a:custGeom>
              <a:avLst/>
              <a:gdLst/>
              <a:ahLst/>
              <a:cxnLst/>
              <a:rect r="r" b="b" t="t" l="l"/>
              <a:pathLst>
                <a:path h="2359887" w="6400800">
                  <a:moveTo>
                    <a:pt x="0" y="198727"/>
                  </a:moveTo>
                  <a:cubicBezTo>
                    <a:pt x="0" y="89013"/>
                    <a:pt x="65532" y="0"/>
                    <a:pt x="146304" y="0"/>
                  </a:cubicBezTo>
                  <a:lnTo>
                    <a:pt x="6254496" y="0"/>
                  </a:lnTo>
                  <a:cubicBezTo>
                    <a:pt x="6335268" y="0"/>
                    <a:pt x="6400800" y="89013"/>
                    <a:pt x="6400800" y="198727"/>
                  </a:cubicBezTo>
                  <a:lnTo>
                    <a:pt x="6400800" y="2161160"/>
                  </a:lnTo>
                  <a:cubicBezTo>
                    <a:pt x="6400800" y="2270874"/>
                    <a:pt x="6335268" y="2359887"/>
                    <a:pt x="6254496" y="2359887"/>
                  </a:cubicBezTo>
                  <a:lnTo>
                    <a:pt x="146304" y="2359887"/>
                  </a:lnTo>
                  <a:cubicBezTo>
                    <a:pt x="65532" y="2359887"/>
                    <a:pt x="0" y="2270874"/>
                    <a:pt x="0" y="2161160"/>
                  </a:cubicBezTo>
                  <a:close/>
                </a:path>
              </a:pathLst>
            </a:custGeom>
            <a:solidFill>
              <a:srgbClr val="EAF3F6"/>
            </a:solidFill>
          </p:spPr>
        </p:sp>
      </p:grpSp>
      <p:grpSp>
        <p:nvGrpSpPr>
          <p:cNvPr name="Group 10" id="10"/>
          <p:cNvGrpSpPr/>
          <p:nvPr/>
        </p:nvGrpSpPr>
        <p:grpSpPr>
          <a:xfrm rot="0">
            <a:off x="13407390" y="277994"/>
            <a:ext cx="4217670" cy="1554997"/>
            <a:chOff x="0" y="0"/>
            <a:chExt cx="5623560" cy="2073329"/>
          </a:xfrm>
        </p:grpSpPr>
        <p:sp>
          <p:nvSpPr>
            <p:cNvPr name="Freeform 11" id="11"/>
            <p:cNvSpPr/>
            <p:nvPr/>
          </p:nvSpPr>
          <p:spPr>
            <a:xfrm flipH="false" flipV="false" rot="0">
              <a:off x="0" y="0"/>
              <a:ext cx="5623560" cy="2073329"/>
            </a:xfrm>
            <a:custGeom>
              <a:avLst/>
              <a:gdLst/>
              <a:ahLst/>
              <a:cxnLst/>
              <a:rect r="r" b="b" t="t" l="l"/>
              <a:pathLst>
                <a:path h="2073329" w="5623560">
                  <a:moveTo>
                    <a:pt x="0" y="0"/>
                  </a:moveTo>
                  <a:lnTo>
                    <a:pt x="5623560" y="0"/>
                  </a:lnTo>
                  <a:lnTo>
                    <a:pt x="5623560" y="2073329"/>
                  </a:lnTo>
                  <a:lnTo>
                    <a:pt x="0" y="2073329"/>
                  </a:lnTo>
                  <a:close/>
                </a:path>
              </a:pathLst>
            </a:custGeom>
            <a:blipFill>
              <a:blip r:embed="rId3">
                <a:alphaModFix amt="0"/>
              </a:blip>
              <a:stretch>
                <a:fillRect l="0" t="-18833" r="-4065" b="8837"/>
              </a:stretch>
            </a:blipFill>
          </p:spPr>
        </p:sp>
        <p:sp>
          <p:nvSpPr>
            <p:cNvPr name="TextBox 12" id="12"/>
            <p:cNvSpPr txBox="true"/>
            <p:nvPr/>
          </p:nvSpPr>
          <p:spPr>
            <a:xfrm>
              <a:off x="0" y="-47625"/>
              <a:ext cx="5623560" cy="2120954"/>
            </a:xfrm>
            <a:prstGeom prst="rect">
              <a:avLst/>
            </a:prstGeom>
          </p:spPr>
          <p:txBody>
            <a:bodyPr anchor="ctr" rtlCol="false" tIns="0" lIns="0" bIns="0" rIns="0"/>
            <a:lstStyle/>
            <a:p>
              <a:pPr algn="ctr">
                <a:lnSpc>
                  <a:spcPts val="2110"/>
                </a:lnSpc>
              </a:pPr>
              <a:r>
                <a:rPr lang="en-US" sz="1674" b="true">
                  <a:solidFill>
                    <a:srgbClr val="1E293B"/>
                  </a:solidFill>
                  <a:latin typeface="Calibri (MS) Bold"/>
                  <a:ea typeface="Calibri (MS) Bold"/>
                  <a:cs typeface="Calibri (MS) Bold"/>
                  <a:sym typeface="Calibri (MS) Bold"/>
                </a:rPr>
                <a:t>Kalp Pragneshkumar Shah</a:t>
              </a:r>
            </a:p>
            <a:p>
              <a:pPr algn="ctr">
                <a:lnSpc>
                  <a:spcPts val="2110"/>
                </a:lnSpc>
              </a:pPr>
              <a:r>
                <a:rPr lang="en-US" sz="1674">
                  <a:solidFill>
                    <a:srgbClr val="1E293B"/>
                  </a:solidFill>
                  <a:latin typeface="Calibri (MS)"/>
                  <a:ea typeface="Calibri (MS)"/>
                  <a:cs typeface="Calibri (MS)"/>
                  <a:sym typeface="Calibri (MS)"/>
                </a:rPr>
                <a:t>Roll No: 24110152</a:t>
              </a:r>
            </a:p>
            <a:p>
              <a:pPr algn="ctr">
                <a:lnSpc>
                  <a:spcPts val="2110"/>
                </a:lnSpc>
              </a:pPr>
              <a:r>
                <a:rPr lang="en-US" sz="1674">
                  <a:solidFill>
                    <a:srgbClr val="1E293B"/>
                  </a:solidFill>
                  <a:latin typeface="Calibri (MS)"/>
                  <a:ea typeface="Calibri (MS)"/>
                  <a:cs typeface="Calibri (MS)"/>
                  <a:sym typeface="Calibri (MS)"/>
                </a:rPr>
                <a:t>Email: kalp.shah@iitgn.ac.in</a:t>
              </a:r>
            </a:p>
            <a:p>
              <a:pPr algn="ctr">
                <a:lnSpc>
                  <a:spcPts val="2110"/>
                </a:lnSpc>
              </a:pPr>
              <a:r>
                <a:rPr lang="en-US" sz="1674">
                  <a:solidFill>
                    <a:srgbClr val="1E293B"/>
                  </a:solidFill>
                  <a:latin typeface="Calibri (MS)"/>
                  <a:ea typeface="Calibri (MS)"/>
                  <a:cs typeface="Calibri (MS)"/>
                  <a:sym typeface="Calibri (MS)"/>
                </a:rPr>
                <a:t>IIT Gandhinagar</a:t>
              </a:r>
            </a:p>
          </p:txBody>
        </p:sp>
      </p:grpSp>
      <p:grpSp>
        <p:nvGrpSpPr>
          <p:cNvPr name="Group 13" id="13"/>
          <p:cNvGrpSpPr/>
          <p:nvPr/>
        </p:nvGrpSpPr>
        <p:grpSpPr>
          <a:xfrm rot="0">
            <a:off x="708660" y="1659636"/>
            <a:ext cx="16870680" cy="411480"/>
            <a:chOff x="0" y="0"/>
            <a:chExt cx="22494240" cy="548640"/>
          </a:xfrm>
        </p:grpSpPr>
        <p:sp>
          <p:nvSpPr>
            <p:cNvPr name="Freeform 14" id="14"/>
            <p:cNvSpPr/>
            <p:nvPr/>
          </p:nvSpPr>
          <p:spPr>
            <a:xfrm flipH="false" flipV="false" rot="0">
              <a:off x="0" y="0"/>
              <a:ext cx="22494239" cy="548640"/>
            </a:xfrm>
            <a:custGeom>
              <a:avLst/>
              <a:gdLst/>
              <a:ahLst/>
              <a:cxnLst/>
              <a:rect r="r" b="b" t="t" l="l"/>
              <a:pathLst>
                <a:path h="548640" w="22494239">
                  <a:moveTo>
                    <a:pt x="0" y="0"/>
                  </a:moveTo>
                  <a:lnTo>
                    <a:pt x="22494239" y="0"/>
                  </a:lnTo>
                  <a:lnTo>
                    <a:pt x="22494239" y="548640"/>
                  </a:lnTo>
                  <a:lnTo>
                    <a:pt x="0" y="548640"/>
                  </a:lnTo>
                  <a:close/>
                </a:path>
              </a:pathLst>
            </a:custGeom>
            <a:blipFill>
              <a:blip r:embed="rId3">
                <a:alphaModFix amt="0"/>
              </a:blip>
              <a:stretch>
                <a:fillRect l="0" t="-748886" r="0" b="-748886"/>
              </a:stretch>
            </a:blipFill>
          </p:spPr>
        </p:sp>
        <p:sp>
          <p:nvSpPr>
            <p:cNvPr name="TextBox 15" id="15"/>
            <p:cNvSpPr txBox="true"/>
            <p:nvPr/>
          </p:nvSpPr>
          <p:spPr>
            <a:xfrm>
              <a:off x="0" y="-28575"/>
              <a:ext cx="22494240" cy="577215"/>
            </a:xfrm>
            <a:prstGeom prst="rect">
              <a:avLst/>
            </a:prstGeom>
          </p:spPr>
          <p:txBody>
            <a:bodyPr anchor="ctr" rtlCol="false" tIns="0" lIns="0" bIns="0" rIns="0"/>
            <a:lstStyle/>
            <a:p>
              <a:pPr algn="l">
                <a:lnSpc>
                  <a:spcPts val="1980"/>
                </a:lnSpc>
              </a:pPr>
              <a:r>
                <a:rPr lang="en-US" sz="1650" b="true">
                  <a:solidFill>
                    <a:srgbClr val="065A82"/>
                  </a:solidFill>
                  <a:latin typeface="Calibri (MS) Bold"/>
                  <a:ea typeface="Calibri (MS) Bold"/>
                  <a:cs typeface="Calibri (MS) Bold"/>
                  <a:sym typeface="Calibri (MS) Bold"/>
                </a:rPr>
                <a:t>PORTFOLIO OUTCOME BY STRATEGY  (250M invested in each currency, +10% assumed local asset return)</a:t>
              </a:r>
            </a:p>
          </p:txBody>
        </p:sp>
      </p:grpSp>
      <p:graphicFrame>
        <p:nvGraphicFramePr>
          <p:cNvPr name="Table 16" id="16"/>
          <p:cNvGraphicFramePr>
            <a:graphicFrameLocks noGrp="true"/>
          </p:cNvGraphicFramePr>
          <p:nvPr/>
        </p:nvGraphicFramePr>
        <p:xfrm>
          <a:off x="708660" y="2071116"/>
          <a:ext cx="16821150" cy="2064544"/>
        </p:xfrm>
        <a:graphic>
          <a:graphicData uri="http://schemas.openxmlformats.org/drawingml/2006/table">
            <a:tbl>
              <a:tblPr/>
              <a:tblGrid>
                <a:gridCol w="3215060"/>
                <a:gridCol w="3486278"/>
                <a:gridCol w="3486278"/>
                <a:gridCol w="3486278"/>
                <a:gridCol w="3147256"/>
              </a:tblGrid>
              <a:tr h="514342">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Strategy</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1C7293"/>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Adverse FX Scenario</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1C7293"/>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Favorable FX Scenario</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1C7293"/>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Cost / Premium</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1C7293"/>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Character</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1C7293"/>
                    </a:solidFill>
                  </a:tcPr>
                </a:tc>
              </a:tr>
              <a:tr h="516734">
                <a:tc>
                  <a:txBody>
                    <a:bodyPr anchor="t" rtlCol="false"/>
                    <a:lstStyle/>
                    <a:p>
                      <a:pPr algn="ctr">
                        <a:lnSpc>
                          <a:spcPts val="1889"/>
                        </a:lnSpc>
                        <a:defRPr/>
                      </a:pPr>
                      <a:r>
                        <a:rPr lang="en-US" sz="1575">
                          <a:solidFill>
                            <a:srgbClr val="1E293B"/>
                          </a:solidFill>
                          <a:latin typeface="Calibri (MS)"/>
                          <a:ea typeface="Calibri (MS)"/>
                          <a:cs typeface="Calibri (MS)"/>
                          <a:sym typeface="Calibri (MS)"/>
                        </a:rPr>
                        <a:t>No Hedge</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$948.3M  (-5.2%)</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$1,061.9M  (+6.2%)</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$0</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Full FX exposure, max variance</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r>
              <a:tr h="516734">
                <a:tc>
                  <a:txBody>
                    <a:bodyPr anchor="t" rtlCol="false"/>
                    <a:lstStyle/>
                    <a:p>
                      <a:pPr algn="ctr">
                        <a:lnSpc>
                          <a:spcPts val="1889"/>
                        </a:lnSpc>
                        <a:defRPr/>
                      </a:pPr>
                      <a:r>
                        <a:rPr lang="en-US" sz="1575">
                          <a:solidFill>
                            <a:srgbClr val="1E293B"/>
                          </a:solidFill>
                          <a:latin typeface="Calibri (MS)"/>
                          <a:ea typeface="Calibri (MS)"/>
                          <a:cs typeface="Calibri (MS)"/>
                          <a:sym typeface="Calibri (MS)"/>
                        </a:rPr>
                        <a:t>Forward Contract</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$1,122.6M  (+12.3%, locked)</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$1,122.6M  (+12.3%, locked)</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$0 upfront (opportunity cost only)</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Certainty, zero upside/downside</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r>
              <a:tr h="516734">
                <a:tc>
                  <a:txBody>
                    <a:bodyPr anchor="t" rtlCol="false"/>
                    <a:lstStyle/>
                    <a:p>
                      <a:pPr algn="ctr">
                        <a:lnSpc>
                          <a:spcPts val="1889"/>
                        </a:lnSpc>
                        <a:defRPr/>
                      </a:pPr>
                      <a:r>
                        <a:rPr lang="en-US" sz="1575">
                          <a:solidFill>
                            <a:srgbClr val="1E293B"/>
                          </a:solidFill>
                          <a:latin typeface="Calibri (MS)"/>
                          <a:ea typeface="Calibri (MS)"/>
                          <a:cs typeface="Calibri (MS)"/>
                          <a:sym typeface="Calibri (MS)"/>
                        </a:rPr>
                        <a:t>Put Option (GK model)</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$1,095.9M net  (+9.6%)</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$1,035.3M net  (+3.5%)</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$26.6M total (2.66% of principal)</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E293B"/>
                          </a:solidFill>
                          <a:latin typeface="Calibri (MS)"/>
                          <a:ea typeface="Calibri (MS)"/>
                          <a:cs typeface="Calibri (MS)"/>
                          <a:sym typeface="Calibri (MS)"/>
                        </a:rPr>
                        <a:t>Downside capped, upside kept</a:t>
                      </a:r>
                      <a:endParaRPr lang="en-US" sz="1100"/>
                    </a:p>
                  </a:txBody>
                  <a:tcPr marL="91440" marR="91440" marT="91440" marB="91440" anchor="ctr">
                    <a:lnL cmpd="sng" algn="ctr" cap="flat" w="9525">
                      <a:solidFill>
                        <a:srgbClr val="D8E2E6"/>
                      </a:solidFill>
                      <a:prstDash val="solid"/>
                      <a:round/>
                      <a:headEnd type="none" w="med" len="med"/>
                      <a:tailEnd type="none" w="med" len="med"/>
                    </a:lnL>
                    <a:lnR cmpd="sng" algn="ctr" cap="flat" w="9525">
                      <a:solidFill>
                        <a:srgbClr val="D8E2E6"/>
                      </a:solidFill>
                      <a:prstDash val="solid"/>
                      <a:round/>
                      <a:headEnd type="none" w="med" len="med"/>
                      <a:tailEnd type="none" w="med" len="med"/>
                    </a:lnR>
                    <a:lnT cmpd="sng" algn="ctr" cap="flat" w="9525">
                      <a:solidFill>
                        <a:srgbClr val="D8E2E6"/>
                      </a:solidFill>
                      <a:prstDash val="solid"/>
                      <a:round/>
                      <a:headEnd type="none" w="med" len="med"/>
                      <a:tailEnd type="none" w="med" len="med"/>
                    </a:lnT>
                    <a:lnB cmpd="sng" algn="ctr" cap="flat" w="9525">
                      <a:solidFill>
                        <a:srgbClr val="D8E2E6"/>
                      </a:solidFill>
                      <a:prstDash val="solid"/>
                      <a:round/>
                      <a:headEnd type="none" w="med" len="med"/>
                      <a:tailEnd type="none" w="med" len="med"/>
                    </a:lnB>
                    <a:solidFill>
                      <a:srgbClr val="FFFFFF"/>
                    </a:solidFill>
                  </a:tcPr>
                </a:tc>
              </a:tr>
            </a:tbl>
          </a:graphicData>
        </a:graphic>
      </p:graphicFrame>
      <p:grpSp>
        <p:nvGrpSpPr>
          <p:cNvPr name="Group 17" id="17"/>
          <p:cNvGrpSpPr/>
          <p:nvPr/>
        </p:nvGrpSpPr>
        <p:grpSpPr>
          <a:xfrm rot="0">
            <a:off x="708660" y="4785265"/>
            <a:ext cx="16939260" cy="5187025"/>
            <a:chOff x="0" y="0"/>
            <a:chExt cx="22585680" cy="6916033"/>
          </a:xfrm>
        </p:grpSpPr>
        <p:grpSp>
          <p:nvGrpSpPr>
            <p:cNvPr name="Group 18" id="18"/>
            <p:cNvGrpSpPr/>
            <p:nvPr/>
          </p:nvGrpSpPr>
          <p:grpSpPr>
            <a:xfrm rot="0">
              <a:off x="0" y="0"/>
              <a:ext cx="11033760" cy="2571651"/>
              <a:chOff x="0" y="0"/>
              <a:chExt cx="11033760" cy="2571651"/>
            </a:xfrm>
          </p:grpSpPr>
          <p:sp>
            <p:nvSpPr>
              <p:cNvPr name="Freeform 19" id="19"/>
              <p:cNvSpPr/>
              <p:nvPr/>
            </p:nvSpPr>
            <p:spPr>
              <a:xfrm flipH="false" flipV="false" rot="0">
                <a:off x="0" y="0"/>
                <a:ext cx="11033760" cy="2571651"/>
              </a:xfrm>
              <a:custGeom>
                <a:avLst/>
                <a:gdLst/>
                <a:ahLst/>
                <a:cxnLst/>
                <a:rect r="r" b="b" t="t" l="l"/>
                <a:pathLst>
                  <a:path h="2571651" w="11033760">
                    <a:moveTo>
                      <a:pt x="0" y="152394"/>
                    </a:moveTo>
                    <a:cubicBezTo>
                      <a:pt x="0" y="68260"/>
                      <a:pt x="65896" y="0"/>
                      <a:pt x="147117" y="0"/>
                    </a:cubicBezTo>
                    <a:lnTo>
                      <a:pt x="10886643" y="0"/>
                    </a:lnTo>
                    <a:cubicBezTo>
                      <a:pt x="10967865" y="0"/>
                      <a:pt x="11033760" y="68260"/>
                      <a:pt x="11033760" y="152394"/>
                    </a:cubicBezTo>
                    <a:lnTo>
                      <a:pt x="11033760" y="2419257"/>
                    </a:lnTo>
                    <a:cubicBezTo>
                      <a:pt x="11033760" y="2503391"/>
                      <a:pt x="10967865" y="2571651"/>
                      <a:pt x="10886643" y="2571651"/>
                    </a:cubicBezTo>
                    <a:lnTo>
                      <a:pt x="147117" y="2571651"/>
                    </a:lnTo>
                    <a:cubicBezTo>
                      <a:pt x="65896" y="2571651"/>
                      <a:pt x="0" y="2503391"/>
                      <a:pt x="0" y="2419257"/>
                    </a:cubicBezTo>
                    <a:close/>
                  </a:path>
                </a:pathLst>
              </a:custGeom>
              <a:solidFill>
                <a:srgbClr val="F4F8F9"/>
              </a:solidFill>
            </p:spPr>
          </p:sp>
        </p:grpSp>
        <p:grpSp>
          <p:nvGrpSpPr>
            <p:cNvPr name="Group 20" id="20"/>
            <p:cNvGrpSpPr/>
            <p:nvPr/>
          </p:nvGrpSpPr>
          <p:grpSpPr>
            <a:xfrm rot="0">
              <a:off x="45720" y="0"/>
              <a:ext cx="10942320" cy="2571651"/>
              <a:chOff x="0" y="0"/>
              <a:chExt cx="10942320" cy="2571651"/>
            </a:xfrm>
          </p:grpSpPr>
          <p:sp>
            <p:nvSpPr>
              <p:cNvPr name="Freeform 21" id="21"/>
              <p:cNvSpPr/>
              <p:nvPr/>
            </p:nvSpPr>
            <p:spPr>
              <a:xfrm flipH="false" flipV="false" rot="0">
                <a:off x="0" y="0"/>
                <a:ext cx="10942320" cy="2571651"/>
              </a:xfrm>
              <a:custGeom>
                <a:avLst/>
                <a:gdLst/>
                <a:ahLst/>
                <a:cxnLst/>
                <a:rect r="r" b="b" t="t" l="l"/>
                <a:pathLst>
                  <a:path h="2571651" w="10942320">
                    <a:moveTo>
                      <a:pt x="0" y="0"/>
                    </a:moveTo>
                    <a:lnTo>
                      <a:pt x="10942320" y="0"/>
                    </a:lnTo>
                    <a:lnTo>
                      <a:pt x="10942320" y="2571651"/>
                    </a:lnTo>
                    <a:lnTo>
                      <a:pt x="0" y="2571651"/>
                    </a:lnTo>
                    <a:close/>
                  </a:path>
                </a:pathLst>
              </a:custGeom>
              <a:blipFill>
                <a:blip r:embed="rId3">
                  <a:alphaModFix amt="0"/>
                </a:blip>
                <a:stretch>
                  <a:fillRect l="0" t="-38484" r="6406" b="-16709"/>
                </a:stretch>
              </a:blipFill>
            </p:spPr>
          </p:sp>
          <p:sp>
            <p:nvSpPr>
              <p:cNvPr name="TextBox 22" id="22"/>
              <p:cNvSpPr txBox="true"/>
              <p:nvPr/>
            </p:nvSpPr>
            <p:spPr>
              <a:xfrm>
                <a:off x="0" y="-66675"/>
                <a:ext cx="10942320" cy="2638326"/>
              </a:xfrm>
              <a:prstGeom prst="rect">
                <a:avLst/>
              </a:prstGeom>
            </p:spPr>
            <p:txBody>
              <a:bodyPr anchor="ctr" rtlCol="false" tIns="0" lIns="0" bIns="0" rIns="0"/>
              <a:lstStyle/>
              <a:p>
                <a:pPr algn="ctr">
                  <a:lnSpc>
                    <a:spcPts val="2587"/>
                  </a:lnSpc>
                </a:pPr>
                <a:r>
                  <a:rPr lang="en-US" sz="1874" b="true">
                    <a:solidFill>
                      <a:srgbClr val="B85042"/>
                    </a:solidFill>
                    <a:latin typeface="Calibri (MS) Bold"/>
                    <a:ea typeface="Calibri (MS) Bold"/>
                    <a:cs typeface="Calibri (MS) Bold"/>
                    <a:sym typeface="Calibri (MS) Bold"/>
                  </a:rPr>
                  <a:t>Worst Case Scenario:</a:t>
                </a:r>
                <a:r>
                  <a:rPr lang="en-US" sz="1874" b="true">
                    <a:solidFill>
                      <a:srgbClr val="B85042"/>
                    </a:solidFill>
                    <a:latin typeface="Calibri (MS) Bold"/>
                    <a:ea typeface="Calibri (MS) Bold"/>
                    <a:cs typeface="Calibri (MS) Bold"/>
                    <a:sym typeface="Calibri (MS) Bold"/>
                  </a:rPr>
                  <a:t> </a:t>
                </a:r>
              </a:p>
              <a:p>
                <a:pPr algn="l">
                  <a:lnSpc>
                    <a:spcPts val="2587"/>
                  </a:lnSpc>
                </a:pPr>
                <a:r>
                  <a:rPr lang="en-US" sz="1874">
                    <a:solidFill>
                      <a:srgbClr val="1E293B"/>
                    </a:solidFill>
                    <a:latin typeface="Calibri (MS)"/>
                    <a:ea typeface="Calibri (MS)"/>
                    <a:cs typeface="Calibri (MS)"/>
                    <a:sym typeface="Calibri (MS)"/>
                  </a:rPr>
                  <a:t>$151.7M loss from unfavorable currency shifts by 10% for INR, 15% for CNH, 25% for JPY, and 15% for KRW. While our local assets grew by 10% to $948.3M, the risk of significant losses underscores the need for effective hedging strategies to protect our portfolio from currency volatility.</a:t>
                </a:r>
              </a:p>
            </p:txBody>
          </p:sp>
        </p:grpSp>
        <p:grpSp>
          <p:nvGrpSpPr>
            <p:cNvPr name="Group 23" id="23"/>
            <p:cNvGrpSpPr/>
            <p:nvPr/>
          </p:nvGrpSpPr>
          <p:grpSpPr>
            <a:xfrm rot="0">
              <a:off x="11244580" y="0"/>
              <a:ext cx="11280140" cy="2571651"/>
              <a:chOff x="0" y="0"/>
              <a:chExt cx="11280140" cy="2571651"/>
            </a:xfrm>
          </p:grpSpPr>
          <p:sp>
            <p:nvSpPr>
              <p:cNvPr name="Freeform 24" id="24"/>
              <p:cNvSpPr/>
              <p:nvPr/>
            </p:nvSpPr>
            <p:spPr>
              <a:xfrm flipH="false" flipV="false" rot="0">
                <a:off x="0" y="0"/>
                <a:ext cx="11280140" cy="2571651"/>
              </a:xfrm>
              <a:custGeom>
                <a:avLst/>
                <a:gdLst/>
                <a:ahLst/>
                <a:cxnLst/>
                <a:rect r="r" b="b" t="t" l="l"/>
                <a:pathLst>
                  <a:path h="2571651" w="11280140">
                    <a:moveTo>
                      <a:pt x="0" y="152394"/>
                    </a:moveTo>
                    <a:cubicBezTo>
                      <a:pt x="0" y="68260"/>
                      <a:pt x="66811" y="0"/>
                      <a:pt x="149159" y="0"/>
                    </a:cubicBezTo>
                    <a:lnTo>
                      <a:pt x="11130981" y="0"/>
                    </a:lnTo>
                    <a:cubicBezTo>
                      <a:pt x="11213329" y="0"/>
                      <a:pt x="11280140" y="68260"/>
                      <a:pt x="11280140" y="152394"/>
                    </a:cubicBezTo>
                    <a:lnTo>
                      <a:pt x="11280140" y="2419257"/>
                    </a:lnTo>
                    <a:cubicBezTo>
                      <a:pt x="11280140" y="2503391"/>
                      <a:pt x="11213329" y="2571651"/>
                      <a:pt x="11130981" y="2571651"/>
                    </a:cubicBezTo>
                    <a:lnTo>
                      <a:pt x="149159" y="2571651"/>
                    </a:lnTo>
                    <a:cubicBezTo>
                      <a:pt x="66811" y="2571651"/>
                      <a:pt x="0" y="2503391"/>
                      <a:pt x="0" y="2419257"/>
                    </a:cubicBezTo>
                    <a:close/>
                  </a:path>
                </a:pathLst>
              </a:custGeom>
              <a:solidFill>
                <a:srgbClr val="F4F8F9"/>
              </a:solidFill>
            </p:spPr>
          </p:sp>
        </p:grpSp>
        <p:grpSp>
          <p:nvGrpSpPr>
            <p:cNvPr name="Group 25" id="25"/>
            <p:cNvGrpSpPr/>
            <p:nvPr/>
          </p:nvGrpSpPr>
          <p:grpSpPr>
            <a:xfrm rot="0">
              <a:off x="11367770" y="100789"/>
              <a:ext cx="11033760" cy="2571651"/>
              <a:chOff x="0" y="0"/>
              <a:chExt cx="11033760" cy="2571651"/>
            </a:xfrm>
          </p:grpSpPr>
          <p:sp>
            <p:nvSpPr>
              <p:cNvPr name="Freeform 26" id="26"/>
              <p:cNvSpPr/>
              <p:nvPr/>
            </p:nvSpPr>
            <p:spPr>
              <a:xfrm flipH="false" flipV="false" rot="0">
                <a:off x="0" y="0"/>
                <a:ext cx="11033760" cy="2571651"/>
              </a:xfrm>
              <a:custGeom>
                <a:avLst/>
                <a:gdLst/>
                <a:ahLst/>
                <a:cxnLst/>
                <a:rect r="r" b="b" t="t" l="l"/>
                <a:pathLst>
                  <a:path h="2571651" w="11033760">
                    <a:moveTo>
                      <a:pt x="0" y="0"/>
                    </a:moveTo>
                    <a:lnTo>
                      <a:pt x="11033760" y="0"/>
                    </a:lnTo>
                    <a:lnTo>
                      <a:pt x="11033760" y="2571651"/>
                    </a:lnTo>
                    <a:lnTo>
                      <a:pt x="0" y="2571651"/>
                    </a:lnTo>
                    <a:close/>
                  </a:path>
                </a:pathLst>
              </a:custGeom>
              <a:blipFill>
                <a:blip r:embed="rId3">
                  <a:alphaModFix amt="0"/>
                </a:blip>
                <a:stretch>
                  <a:fillRect l="0" t="-39176" r="6353" b="-17402"/>
                </a:stretch>
              </a:blipFill>
            </p:spPr>
          </p:sp>
          <p:sp>
            <p:nvSpPr>
              <p:cNvPr name="TextBox 27" id="27"/>
              <p:cNvSpPr txBox="true"/>
              <p:nvPr/>
            </p:nvSpPr>
            <p:spPr>
              <a:xfrm>
                <a:off x="0" y="-66675"/>
                <a:ext cx="11033760" cy="2638326"/>
              </a:xfrm>
              <a:prstGeom prst="rect">
                <a:avLst/>
              </a:prstGeom>
            </p:spPr>
            <p:txBody>
              <a:bodyPr anchor="ctr" rtlCol="false" tIns="0" lIns="0" bIns="0" rIns="0"/>
              <a:lstStyle/>
              <a:p>
                <a:pPr algn="ctr">
                  <a:lnSpc>
                    <a:spcPts val="2587"/>
                  </a:lnSpc>
                </a:pPr>
                <a:r>
                  <a:rPr lang="en-US" sz="1874" b="true">
                    <a:solidFill>
                      <a:srgbClr val="1C7293"/>
                    </a:solidFill>
                    <a:latin typeface="Calibri (MS) Bold"/>
                    <a:ea typeface="Calibri (MS) Bold"/>
                    <a:cs typeface="Calibri (MS) Bold"/>
                    <a:sym typeface="Calibri (MS) Bold"/>
                  </a:rPr>
                  <a:t>Why use Forward Contracts:</a:t>
                </a:r>
              </a:p>
              <a:p>
                <a:pPr algn="l">
                  <a:lnSpc>
                    <a:spcPts val="2587"/>
                  </a:lnSpc>
                </a:pPr>
                <a:r>
                  <a:rPr lang="en-US" sz="1874">
                    <a:solidFill>
                      <a:srgbClr val="1E293B"/>
                    </a:solidFill>
                    <a:latin typeface="Calibri (MS)"/>
                    <a:ea typeface="Calibri (MS)"/>
                    <a:cs typeface="Calibri (MS)"/>
                    <a:sym typeface="Calibri (MS)"/>
                  </a:rPr>
                  <a:t>US rates (5.25%) exceed the implied rates for CNH, JPY &amp; KRW, so Interest Rate Parity puts those forwards at a premium (currency appreciates forward). The opposite holds for INR, where local rates exceed US rates.</a:t>
                </a:r>
              </a:p>
            </p:txBody>
          </p:sp>
        </p:grpSp>
        <p:grpSp>
          <p:nvGrpSpPr>
            <p:cNvPr name="Group 28" id="28"/>
            <p:cNvGrpSpPr/>
            <p:nvPr/>
          </p:nvGrpSpPr>
          <p:grpSpPr>
            <a:xfrm rot="0">
              <a:off x="30480" y="2672440"/>
              <a:ext cx="10972800" cy="4214613"/>
              <a:chOff x="0" y="0"/>
              <a:chExt cx="10972800" cy="4214613"/>
            </a:xfrm>
          </p:grpSpPr>
          <p:sp>
            <p:nvSpPr>
              <p:cNvPr name="Freeform 29" id="29"/>
              <p:cNvSpPr/>
              <p:nvPr/>
            </p:nvSpPr>
            <p:spPr>
              <a:xfrm flipH="false" flipV="false" rot="0">
                <a:off x="0" y="0"/>
                <a:ext cx="10972800" cy="4214613"/>
              </a:xfrm>
              <a:custGeom>
                <a:avLst/>
                <a:gdLst/>
                <a:ahLst/>
                <a:cxnLst/>
                <a:rect r="r" b="b" t="t" l="l"/>
                <a:pathLst>
                  <a:path h="4214613" w="10972800">
                    <a:moveTo>
                      <a:pt x="0" y="249755"/>
                    </a:moveTo>
                    <a:cubicBezTo>
                      <a:pt x="0" y="111869"/>
                      <a:pt x="65532" y="0"/>
                      <a:pt x="146304" y="0"/>
                    </a:cubicBezTo>
                    <a:lnTo>
                      <a:pt x="10826496" y="0"/>
                    </a:lnTo>
                    <a:cubicBezTo>
                      <a:pt x="10907268" y="0"/>
                      <a:pt x="10972800" y="111869"/>
                      <a:pt x="10972800" y="249755"/>
                    </a:cubicBezTo>
                    <a:lnTo>
                      <a:pt x="10972800" y="3964858"/>
                    </a:lnTo>
                    <a:cubicBezTo>
                      <a:pt x="10972800" y="4102743"/>
                      <a:pt x="10907268" y="4214613"/>
                      <a:pt x="10826496" y="4214613"/>
                    </a:cubicBezTo>
                    <a:lnTo>
                      <a:pt x="146304" y="4214613"/>
                    </a:lnTo>
                    <a:cubicBezTo>
                      <a:pt x="65532" y="4214613"/>
                      <a:pt x="0" y="4102743"/>
                      <a:pt x="0" y="3964858"/>
                    </a:cubicBezTo>
                    <a:close/>
                  </a:path>
                </a:pathLst>
              </a:custGeom>
              <a:solidFill>
                <a:srgbClr val="F4F8F9"/>
              </a:solidFill>
            </p:spPr>
          </p:sp>
        </p:grpSp>
        <p:grpSp>
          <p:nvGrpSpPr>
            <p:cNvPr name="Group 30" id="30"/>
            <p:cNvGrpSpPr/>
            <p:nvPr/>
          </p:nvGrpSpPr>
          <p:grpSpPr>
            <a:xfrm rot="0">
              <a:off x="76200" y="2701420"/>
              <a:ext cx="10881360" cy="4070805"/>
              <a:chOff x="0" y="0"/>
              <a:chExt cx="10881360" cy="4070805"/>
            </a:xfrm>
          </p:grpSpPr>
          <p:sp>
            <p:nvSpPr>
              <p:cNvPr name="Freeform 31" id="31"/>
              <p:cNvSpPr/>
              <p:nvPr/>
            </p:nvSpPr>
            <p:spPr>
              <a:xfrm flipH="false" flipV="false" rot="0">
                <a:off x="0" y="0"/>
                <a:ext cx="10881361" cy="4070805"/>
              </a:xfrm>
              <a:custGeom>
                <a:avLst/>
                <a:gdLst/>
                <a:ahLst/>
                <a:cxnLst/>
                <a:rect r="r" b="b" t="t" l="l"/>
                <a:pathLst>
                  <a:path h="4070805" w="10881361">
                    <a:moveTo>
                      <a:pt x="0" y="0"/>
                    </a:moveTo>
                    <a:lnTo>
                      <a:pt x="10881361" y="0"/>
                    </a:lnTo>
                    <a:lnTo>
                      <a:pt x="10881361" y="4070805"/>
                    </a:lnTo>
                    <a:lnTo>
                      <a:pt x="0" y="4070805"/>
                    </a:lnTo>
                    <a:close/>
                  </a:path>
                </a:pathLst>
              </a:custGeom>
              <a:blipFill>
                <a:blip r:embed="rId3">
                  <a:alphaModFix amt="0"/>
                </a:blip>
                <a:stretch>
                  <a:fillRect l="0" t="-24311" r="5882" b="26271"/>
                </a:stretch>
              </a:blipFill>
            </p:spPr>
          </p:sp>
          <p:sp>
            <p:nvSpPr>
              <p:cNvPr name="TextBox 32" id="32"/>
              <p:cNvSpPr txBox="true"/>
              <p:nvPr/>
            </p:nvSpPr>
            <p:spPr>
              <a:xfrm>
                <a:off x="0" y="-66675"/>
                <a:ext cx="10881360" cy="4137480"/>
              </a:xfrm>
              <a:prstGeom prst="rect">
                <a:avLst/>
              </a:prstGeom>
            </p:spPr>
            <p:txBody>
              <a:bodyPr anchor="ctr" rtlCol="false" tIns="0" lIns="0" bIns="0" rIns="0"/>
              <a:lstStyle/>
              <a:p>
                <a:pPr algn="ctr">
                  <a:lnSpc>
                    <a:spcPts val="2587"/>
                  </a:lnSpc>
                </a:pPr>
                <a:r>
                  <a:rPr lang="en-US" sz="1874" b="true">
                    <a:solidFill>
                      <a:srgbClr val="B85042"/>
                    </a:solidFill>
                    <a:latin typeface="Calibri (MS) Bold"/>
                    <a:ea typeface="Calibri (MS) Bold"/>
                    <a:cs typeface="Calibri (MS) Bold"/>
                    <a:sym typeface="Calibri (MS) Bold"/>
                  </a:rPr>
                  <a:t>Why options could also be used:</a:t>
                </a:r>
                <a:r>
                  <a:rPr lang="en-US" sz="1874" b="true">
                    <a:solidFill>
                      <a:srgbClr val="B85042"/>
                    </a:solidFill>
                    <a:latin typeface="Calibri (MS) Bold"/>
                    <a:ea typeface="Calibri (MS) Bold"/>
                    <a:cs typeface="Calibri (MS) Bold"/>
                    <a:sym typeface="Calibri (MS) Bold"/>
                  </a:rPr>
                  <a:t> </a:t>
                </a:r>
              </a:p>
              <a:p>
                <a:pPr algn="l">
                  <a:lnSpc>
                    <a:spcPts val="2587"/>
                  </a:lnSpc>
                </a:pPr>
                <a:r>
                  <a:rPr lang="en-US" sz="1874">
                    <a:solidFill>
                      <a:srgbClr val="1E293B"/>
                    </a:solidFill>
                    <a:latin typeface="Calibri (MS)"/>
                    <a:ea typeface="Calibri (MS)"/>
                    <a:cs typeface="Calibri (MS)"/>
                    <a:sym typeface="Calibri (MS)"/>
                  </a:rPr>
                  <a:t>Options offer asymmetric protection by setting a worst-case exchange rate while allowing for gains if rates move favorably. Though this flexibility requires an upfront premium, which may lower returns if the option isn’t exercised, options are ideal when future cash flows are uncertain or when exchange rates are highly volatile. However, in scenarios where payoff is guaranteed, the added cost of options may not be justified, making forward contracts the better choice for hedging.</a:t>
                </a:r>
              </a:p>
            </p:txBody>
          </p:sp>
        </p:grpSp>
        <p:grpSp>
          <p:nvGrpSpPr>
            <p:cNvPr name="Group 33" id="33"/>
            <p:cNvGrpSpPr/>
            <p:nvPr/>
          </p:nvGrpSpPr>
          <p:grpSpPr>
            <a:xfrm rot="0">
              <a:off x="11277600" y="2701420"/>
              <a:ext cx="11308080" cy="4214613"/>
              <a:chOff x="0" y="0"/>
              <a:chExt cx="11308080" cy="4214613"/>
            </a:xfrm>
          </p:grpSpPr>
          <p:sp>
            <p:nvSpPr>
              <p:cNvPr name="Freeform 34" id="34"/>
              <p:cNvSpPr/>
              <p:nvPr/>
            </p:nvSpPr>
            <p:spPr>
              <a:xfrm flipH="false" flipV="false" rot="0">
                <a:off x="0" y="0"/>
                <a:ext cx="11308080" cy="4214613"/>
              </a:xfrm>
              <a:custGeom>
                <a:avLst/>
                <a:gdLst/>
                <a:ahLst/>
                <a:cxnLst/>
                <a:rect r="r" b="b" t="t" l="l"/>
                <a:pathLst>
                  <a:path h="4214613" w="11308080">
                    <a:moveTo>
                      <a:pt x="0" y="249755"/>
                    </a:moveTo>
                    <a:cubicBezTo>
                      <a:pt x="0" y="111869"/>
                      <a:pt x="66976" y="0"/>
                      <a:pt x="149528" y="0"/>
                    </a:cubicBezTo>
                    <a:lnTo>
                      <a:pt x="11158551" y="0"/>
                    </a:lnTo>
                    <a:cubicBezTo>
                      <a:pt x="11241104" y="0"/>
                      <a:pt x="11308080" y="111869"/>
                      <a:pt x="11308080" y="249755"/>
                    </a:cubicBezTo>
                    <a:lnTo>
                      <a:pt x="11308080" y="3964858"/>
                    </a:lnTo>
                    <a:cubicBezTo>
                      <a:pt x="11308080" y="4102743"/>
                      <a:pt x="11241104" y="4214613"/>
                      <a:pt x="11158551" y="4214613"/>
                    </a:cubicBezTo>
                    <a:lnTo>
                      <a:pt x="149528" y="4214613"/>
                    </a:lnTo>
                    <a:cubicBezTo>
                      <a:pt x="66976" y="4214613"/>
                      <a:pt x="0" y="4102743"/>
                      <a:pt x="0" y="3964858"/>
                    </a:cubicBezTo>
                    <a:close/>
                  </a:path>
                </a:pathLst>
              </a:custGeom>
              <a:solidFill>
                <a:srgbClr val="F4F8F9"/>
              </a:solidFill>
            </p:spPr>
          </p:sp>
        </p:grpSp>
        <p:grpSp>
          <p:nvGrpSpPr>
            <p:cNvPr name="Group 35" id="35"/>
            <p:cNvGrpSpPr/>
            <p:nvPr/>
          </p:nvGrpSpPr>
          <p:grpSpPr>
            <a:xfrm rot="0">
              <a:off x="11430852" y="2701420"/>
              <a:ext cx="11001576" cy="4156651"/>
              <a:chOff x="0" y="0"/>
              <a:chExt cx="10986402" cy="4150918"/>
            </a:xfrm>
          </p:grpSpPr>
          <p:sp>
            <p:nvSpPr>
              <p:cNvPr name="Freeform 36" id="36"/>
              <p:cNvSpPr/>
              <p:nvPr/>
            </p:nvSpPr>
            <p:spPr>
              <a:xfrm flipH="false" flipV="false" rot="0">
                <a:off x="0" y="0"/>
                <a:ext cx="10986401" cy="4150918"/>
              </a:xfrm>
              <a:custGeom>
                <a:avLst/>
                <a:gdLst/>
                <a:ahLst/>
                <a:cxnLst/>
                <a:rect r="r" b="b" t="t" l="l"/>
                <a:pathLst>
                  <a:path h="4150918" w="10986401">
                    <a:moveTo>
                      <a:pt x="0" y="0"/>
                    </a:moveTo>
                    <a:lnTo>
                      <a:pt x="10986401" y="0"/>
                    </a:lnTo>
                    <a:lnTo>
                      <a:pt x="10986401" y="4150918"/>
                    </a:lnTo>
                    <a:lnTo>
                      <a:pt x="0" y="4150918"/>
                    </a:lnTo>
                    <a:close/>
                  </a:path>
                </a:pathLst>
              </a:custGeom>
              <a:blipFill>
                <a:blip r:embed="rId3">
                  <a:alphaModFix amt="0"/>
                </a:blip>
                <a:stretch>
                  <a:fillRect l="0" t="-24271" r="5949" b="27264"/>
                </a:stretch>
              </a:blipFill>
            </p:spPr>
          </p:sp>
          <p:sp>
            <p:nvSpPr>
              <p:cNvPr name="TextBox 37" id="37"/>
              <p:cNvSpPr txBox="true"/>
              <p:nvPr/>
            </p:nvSpPr>
            <p:spPr>
              <a:xfrm>
                <a:off x="0" y="-66675"/>
                <a:ext cx="10986402" cy="4217593"/>
              </a:xfrm>
              <a:prstGeom prst="rect">
                <a:avLst/>
              </a:prstGeom>
            </p:spPr>
            <p:txBody>
              <a:bodyPr anchor="ctr" rtlCol="false" tIns="0" lIns="0" bIns="0" rIns="0"/>
              <a:lstStyle/>
              <a:p>
                <a:pPr algn="ctr">
                  <a:lnSpc>
                    <a:spcPts val="2587"/>
                  </a:lnSpc>
                </a:pPr>
                <a:r>
                  <a:rPr lang="en-US" sz="1874" b="true">
                    <a:solidFill>
                      <a:srgbClr val="1C7293"/>
                    </a:solidFill>
                    <a:latin typeface="Calibri (MS) Bold"/>
                    <a:ea typeface="Calibri (MS) Bold"/>
                    <a:cs typeface="Calibri (MS) Bold"/>
                    <a:sym typeface="Calibri (MS) Bold"/>
                  </a:rPr>
                  <a:t>Conclusion:  </a:t>
                </a:r>
              </a:p>
              <a:p>
                <a:pPr algn="l">
                  <a:lnSpc>
                    <a:spcPts val="2587"/>
                  </a:lnSpc>
                </a:pPr>
                <a:r>
                  <a:rPr lang="en-US" sz="1874">
                    <a:solidFill>
                      <a:srgbClr val="1E293B"/>
                    </a:solidFill>
                    <a:latin typeface="Calibri (MS)"/>
                    <a:ea typeface="Calibri (MS)"/>
                    <a:cs typeface="Calibri (MS)"/>
                    <a:sym typeface="Calibri (MS)"/>
                  </a:rPr>
                  <a:t>For the purpose of </a:t>
                </a:r>
                <a:r>
                  <a:rPr lang="en-US" sz="1874">
                    <a:solidFill>
                      <a:srgbClr val="1E293B"/>
                    </a:solidFill>
                    <a:latin typeface="Calibri (MS)"/>
                    <a:ea typeface="Calibri (MS)"/>
                    <a:cs typeface="Calibri (MS)"/>
                    <a:sym typeface="Calibri (MS)"/>
                  </a:rPr>
                  <a:t>this case study, we assume that the future payment from the investment is guaranteed, meaning the only uncertainty is the exchange rate. Under these conditions, a forward contract is generally the better choice because it completely eliminates exchange rate risk, locks in a known future cash flow, and does not require paying an upfront premium. This results in a higher expected net return when the exposure is certain.</a:t>
                </a:r>
              </a:p>
            </p:txBody>
          </p:sp>
        </p:grpSp>
      </p:grpSp>
      <p:grpSp>
        <p:nvGrpSpPr>
          <p:cNvPr name="Group 38" id="38"/>
          <p:cNvGrpSpPr/>
          <p:nvPr/>
        </p:nvGrpSpPr>
        <p:grpSpPr>
          <a:xfrm rot="0">
            <a:off x="754380" y="4257045"/>
            <a:ext cx="16775430" cy="409157"/>
            <a:chOff x="0" y="0"/>
            <a:chExt cx="22494240" cy="548640"/>
          </a:xfrm>
        </p:grpSpPr>
        <p:sp>
          <p:nvSpPr>
            <p:cNvPr name="Freeform 39" id="39"/>
            <p:cNvSpPr/>
            <p:nvPr/>
          </p:nvSpPr>
          <p:spPr>
            <a:xfrm flipH="false" flipV="false" rot="0">
              <a:off x="0" y="0"/>
              <a:ext cx="22494239" cy="548640"/>
            </a:xfrm>
            <a:custGeom>
              <a:avLst/>
              <a:gdLst/>
              <a:ahLst/>
              <a:cxnLst/>
              <a:rect r="r" b="b" t="t" l="l"/>
              <a:pathLst>
                <a:path h="548640" w="22494239">
                  <a:moveTo>
                    <a:pt x="0" y="0"/>
                  </a:moveTo>
                  <a:lnTo>
                    <a:pt x="22494239" y="0"/>
                  </a:lnTo>
                  <a:lnTo>
                    <a:pt x="22494239" y="548640"/>
                  </a:lnTo>
                  <a:lnTo>
                    <a:pt x="0" y="548640"/>
                  </a:lnTo>
                  <a:close/>
                </a:path>
              </a:pathLst>
            </a:custGeom>
            <a:blipFill>
              <a:blip r:embed="rId3">
                <a:alphaModFix amt="0"/>
              </a:blip>
              <a:stretch>
                <a:fillRect l="0" t="-748886" r="0" b="-748886"/>
              </a:stretch>
            </a:blipFill>
          </p:spPr>
        </p:sp>
        <p:sp>
          <p:nvSpPr>
            <p:cNvPr name="TextBox 40" id="40"/>
            <p:cNvSpPr txBox="true"/>
            <p:nvPr/>
          </p:nvSpPr>
          <p:spPr>
            <a:xfrm>
              <a:off x="0" y="-19050"/>
              <a:ext cx="22494240" cy="567690"/>
            </a:xfrm>
            <a:prstGeom prst="rect">
              <a:avLst/>
            </a:prstGeom>
          </p:spPr>
          <p:txBody>
            <a:bodyPr anchor="ctr" rtlCol="false" tIns="0" lIns="0" bIns="0" rIns="0"/>
            <a:lstStyle/>
            <a:p>
              <a:pPr algn="l">
                <a:lnSpc>
                  <a:spcPts val="1889"/>
                </a:lnSpc>
              </a:pPr>
              <a:r>
                <a:rPr lang="en-US" b="true" sz="1574" i="true">
                  <a:solidFill>
                    <a:srgbClr val="1E293B"/>
                  </a:solidFill>
                  <a:latin typeface="Calibri (MS) Bold Italics"/>
                  <a:ea typeface="Calibri (MS) Bold Italics"/>
                  <a:cs typeface="Calibri (MS) Bold Italics"/>
                  <a:sym typeface="Calibri (MS) Bold Italics"/>
                </a:rPr>
                <a:t>Assumptions: US 1Y rate 5.25%; local asset return 10%; option pricing via Garman-Kohlhagen(Black Scholes variant for FX)</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DAHOOg5NTD0</dc:identifier>
  <dcterms:modified xsi:type="dcterms:W3CDTF">2011-08-01T06:04:30Z</dcterms:modified>
  <cp:revision>1</cp:revision>
  <dc:title>Kalp_Presentation</dc:title>
</cp:coreProperties>
</file>